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ry" initials="H" lastIdx="3" clrIdx="0">
    <p:extLst>
      <p:ext uri="{19B8F6BF-5375-455C-9EA6-DF929625EA0E}">
        <p15:presenceInfo xmlns:p15="http://schemas.microsoft.com/office/powerpoint/2012/main" userId="H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2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37372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51972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36086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277872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095987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10320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44719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384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2331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675652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177286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5604882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090830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1410184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610204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563589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22009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7730100-1AEC-44EA-949F-23E5857343C6}" type="datetimeFigureOut">
              <a:rPr lang="en-IN" smtClean="0"/>
              <a:t>31-08-2024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5C2D444-D562-41C1-B4D2-E3837C148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3323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ransition spd="slow">
    <p:wipe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2">
                <a:lumMod val="20000"/>
                <a:lumOff val="80000"/>
              </a:schemeClr>
            </a:gs>
            <a:gs pos="12000">
              <a:schemeClr val="accent3">
                <a:lumMod val="40000"/>
                <a:lumOff val="6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F835953-7726-3BBB-1639-48CBD867329E}"/>
              </a:ext>
            </a:extLst>
          </p:cNvPr>
          <p:cNvSpPr txBox="1"/>
          <p:nvPr/>
        </p:nvSpPr>
        <p:spPr>
          <a:xfrm>
            <a:off x="4400956" y="4814229"/>
            <a:ext cx="89107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Bahnschrift SemiBold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 NAME </a:t>
            </a:r>
            <a:r>
              <a:rPr lang="en-US" sz="2400" b="1" i="1" dirty="0">
                <a:solidFill>
                  <a:prstClr val="black"/>
                </a:solidFill>
                <a:latin typeface="Bahnschrift SemiBold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Berlin Sans FB Demi" panose="020E0802020502020306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DEEPIKA P</a:t>
            </a:r>
            <a:r>
              <a:rPr lang="en-US" sz="2400" b="1" i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REGISTER NO   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312206489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DEPARTMENT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: 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COMMERCE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COLLEGE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:  </a:t>
            </a:r>
            <a:r>
              <a:rPr kumimoji="0" lang="en-US" sz="21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Bahnschrift SemiBold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AGURCHAND MANMULL JAIN COLLEGE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A313A34-B660-212C-750B-D32A4149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76" y="536704"/>
            <a:ext cx="10027307" cy="150706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EMPLOYEE DATA ANALYSIS USING EXCEL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44927-FA4C-F07A-2F6C-8007A8147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746" y="2059290"/>
            <a:ext cx="4478695" cy="245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73404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accent3">
                <a:lumMod val="40000"/>
                <a:lumOff val="6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DF0E-6142-3387-CB70-7696703FE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553" y="1380758"/>
            <a:ext cx="8534400" cy="1507067"/>
          </a:xfrm>
        </p:spPr>
        <p:txBody>
          <a:bodyPr/>
          <a:lstStyle/>
          <a:p>
            <a:r>
              <a:rPr lang="en-IN" sz="3800" i="1" spc="5" dirty="0">
                <a:solidFill>
                  <a:schemeClr val="bg1">
                    <a:lumMod val="95000"/>
                    <a:lumOff val="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PROJECT</a:t>
            </a:r>
            <a:r>
              <a:rPr lang="en-IN" sz="3800" i="1" spc="-85" dirty="0">
                <a:solidFill>
                  <a:schemeClr val="bg1">
                    <a:lumMod val="95000"/>
                    <a:lumOff val="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3800" i="1" spc="25" dirty="0">
                <a:solidFill>
                  <a:schemeClr val="bg1">
                    <a:lumMod val="95000"/>
                    <a:lumOff val="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TITLE</a:t>
            </a:r>
            <a:b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3EB76-29B2-1BA5-6E83-F6A2CB960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80" y="1983273"/>
            <a:ext cx="11159413" cy="3615267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Employee Performance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Analysis using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Excel</a:t>
            </a:r>
            <a:endParaRPr kumimoji="0" lang="en-IN" sz="2800" b="0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A627D9-EDE6-3B13-7091-C3A3E1709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WatercolorSponge/>
                    </a14:imgEffect>
                    <a14:imgEffect>
                      <a14:sharpenSoften amount="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57472" y="4902805"/>
            <a:ext cx="1848818" cy="1787416"/>
          </a:xfrm>
          <a:prstGeom prst="rect">
            <a:avLst/>
          </a:prstGeom>
          <a:gradFill>
            <a:gsLst>
              <a:gs pos="10000">
                <a:schemeClr val="accent3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</a:gradFill>
          <a:effectLst>
            <a:softEdge rad="1270000"/>
          </a:effectLst>
          <a:scene3d>
            <a:camera prst="orthographicFront"/>
            <a:lightRig rig="threePt" dir="t"/>
          </a:scene3d>
          <a:sp3d extrusionH="76200" contourW="12700">
            <a:extrusionClr>
              <a:schemeClr val="bg1">
                <a:lumMod val="95000"/>
                <a:lumOff val="5000"/>
              </a:schemeClr>
            </a:extrusionClr>
            <a:contourClr>
              <a:schemeClr val="tx1"/>
            </a:contourClr>
          </a:sp3d>
        </p:spPr>
      </p:pic>
    </p:spTree>
    <p:extLst>
      <p:ext uri="{BB962C8B-B14F-4D97-AF65-F5344CB8AC3E}">
        <p14:creationId xmlns:p14="http://schemas.microsoft.com/office/powerpoint/2010/main" val="367700753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accent3">
                <a:lumMod val="40000"/>
                <a:lumOff val="6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05A5-F9D0-79E9-3A5F-F0C0FBF4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92" y="536336"/>
            <a:ext cx="8627640" cy="1665688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  <a:lumOff val="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AGENDA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CC583-4A8B-DC1C-5389-2E6BF9A37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181" y="1649254"/>
            <a:ext cx="8534400" cy="4404049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Problem Statement</a:t>
            </a:r>
          </a:p>
          <a:p>
            <a:r>
              <a:rPr lang="en-IN" dirty="0">
                <a:solidFill>
                  <a:schemeClr val="bg1"/>
                </a:solidFill>
              </a:rPr>
              <a:t>Project Overview</a:t>
            </a:r>
          </a:p>
          <a:p>
            <a:r>
              <a:rPr lang="en-IN" dirty="0">
                <a:solidFill>
                  <a:schemeClr val="bg1"/>
                </a:solidFill>
              </a:rPr>
              <a:t>End Users</a:t>
            </a:r>
          </a:p>
          <a:p>
            <a:r>
              <a:rPr lang="en-IN" dirty="0">
                <a:solidFill>
                  <a:schemeClr val="bg1"/>
                </a:solidFill>
              </a:rPr>
              <a:t>Our Solution and Proposition</a:t>
            </a:r>
          </a:p>
          <a:p>
            <a:r>
              <a:rPr lang="en-IN" dirty="0">
                <a:solidFill>
                  <a:schemeClr val="bg1"/>
                </a:solidFill>
              </a:rPr>
              <a:t>Dataset Description</a:t>
            </a:r>
          </a:p>
          <a:p>
            <a:r>
              <a:rPr lang="en-GB" dirty="0">
                <a:solidFill>
                  <a:schemeClr val="bg1"/>
                </a:solidFill>
              </a:rPr>
              <a:t>Modelling Approach</a:t>
            </a:r>
          </a:p>
          <a:p>
            <a:r>
              <a:rPr lang="en-GB" dirty="0">
                <a:solidFill>
                  <a:schemeClr val="bg1"/>
                </a:solidFill>
              </a:rPr>
              <a:t>Results and Discussion</a:t>
            </a:r>
          </a:p>
          <a:p>
            <a:r>
              <a:rPr lang="en-GB" dirty="0">
                <a:solidFill>
                  <a:schemeClr val="bg1"/>
                </a:solidFill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679DB-829A-3C61-5619-0CCF6BEF1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368" y="2171630"/>
            <a:ext cx="2090058" cy="33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2003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accent3">
                <a:lumMod val="40000"/>
                <a:lumOff val="6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51DC-5410-F6AD-63AE-A1E2DCF7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171" y="1264991"/>
            <a:ext cx="8534400" cy="1507067"/>
          </a:xfrm>
        </p:spPr>
        <p:txBody>
          <a:bodyPr/>
          <a:lstStyle/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PROBLEM	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C4217-0C8F-7A4E-D959-553F19812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0740" y="2018525"/>
            <a:ext cx="6927883" cy="4175449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This analysis is created to track the performance of the   employees, in order to provide promotions, incentives to the respective employees.</a:t>
            </a:r>
          </a:p>
          <a:p>
            <a:r>
              <a:rPr lang="en-GB" dirty="0">
                <a:solidFill>
                  <a:schemeClr val="bg1"/>
                </a:solidFill>
              </a:rPr>
              <a:t>This analysis helps the organisation to grow by the growth of the employees of the organisation.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6FF75C-0F30-ED6E-A16F-FBD645508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82" y="2906485"/>
            <a:ext cx="1729400" cy="166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1311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accent3">
                <a:lumMod val="40000"/>
                <a:lumOff val="6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11F1-F771-DE96-616B-9916748A1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534" y="919409"/>
            <a:ext cx="8534400" cy="1507067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PROJECT	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24DBE-8F86-FFDC-7202-67A916A7C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0662" y="1203305"/>
            <a:ext cx="8074123" cy="4735286"/>
          </a:xfrm>
        </p:spPr>
        <p:txBody>
          <a:bodyPr/>
          <a:lstStyle/>
          <a:p>
            <a:r>
              <a:rPr lang="en-GB" i="1" dirty="0">
                <a:solidFill>
                  <a:schemeClr val="accent2">
                    <a:lumMod val="75000"/>
                  </a:schemeClr>
                </a:solidFill>
              </a:rPr>
              <a:t>Employee performance analysis </a:t>
            </a:r>
            <a:r>
              <a:rPr lang="en-GB" dirty="0">
                <a:solidFill>
                  <a:schemeClr val="bg1"/>
                </a:solidFill>
              </a:rPr>
              <a:t>helps organizations   identify areas of strength and weakness, enabling them to make informed decisions on employee development needs.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F5EE2-9276-2946-FDAB-A9C4A38AE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436" y="2485920"/>
            <a:ext cx="1135226" cy="195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6419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accent3">
                <a:lumMod val="40000"/>
                <a:lumOff val="6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369AC-68B7-97AC-AF7D-BD0FE870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784" y="1398900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WHO ARE THE INTENDED USERS?</a:t>
            </a:r>
            <a:br>
              <a:rPr lang="en-GB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br>
              <a:rPr lang="en-GB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en-IN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C653D-9554-E0CC-C345-987C0505A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5079" y="1891178"/>
            <a:ext cx="8534400" cy="3615267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Employees</a:t>
            </a:r>
          </a:p>
          <a:p>
            <a:r>
              <a:rPr lang="en-IN" dirty="0">
                <a:solidFill>
                  <a:schemeClr val="bg1"/>
                </a:solidFill>
              </a:rPr>
              <a:t>Managers</a:t>
            </a:r>
          </a:p>
          <a:p>
            <a:r>
              <a:rPr lang="en-IN" dirty="0">
                <a:solidFill>
                  <a:schemeClr val="bg1"/>
                </a:solidFill>
              </a:rPr>
              <a:t>Employers</a:t>
            </a:r>
          </a:p>
          <a:p>
            <a:r>
              <a:rPr lang="en-IN" dirty="0">
                <a:solidFill>
                  <a:schemeClr val="bg1"/>
                </a:solidFill>
              </a:rPr>
              <a:t>Managerial organisations</a:t>
            </a:r>
          </a:p>
          <a:p>
            <a:r>
              <a:rPr lang="en-IN" dirty="0">
                <a:solidFill>
                  <a:schemeClr val="bg1"/>
                </a:solidFill>
              </a:rPr>
              <a:t>Industrial organisations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6CC98F-E17E-3412-1BD6-6E9A36CA3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069" y="2455056"/>
            <a:ext cx="2086980" cy="248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3833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accent3">
                <a:lumMod val="40000"/>
                <a:lumOff val="6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D4B0-96A6-805E-73E7-79401FC1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48" y="1025677"/>
            <a:ext cx="10870163" cy="1367626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OUR SOLUTION AND ITS VALUE PROPOSITION</a:t>
            </a:r>
            <a:endParaRPr lang="en-IN" sz="32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1826E-2DB7-9EE5-B0AB-D31237E77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654" y="2217056"/>
            <a:ext cx="8534400" cy="3615267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Conditional formatting  ~ missing </a:t>
            </a:r>
          </a:p>
          <a:p>
            <a:r>
              <a:rPr lang="en-GB" dirty="0">
                <a:solidFill>
                  <a:schemeClr val="bg1"/>
                </a:solidFill>
              </a:rPr>
              <a:t>Pivot tables  ~ summary</a:t>
            </a:r>
          </a:p>
          <a:p>
            <a:r>
              <a:rPr lang="en-GB" dirty="0">
                <a:solidFill>
                  <a:schemeClr val="bg1"/>
                </a:solidFill>
              </a:rPr>
              <a:t>Charts ~ trend </a:t>
            </a:r>
          </a:p>
          <a:p>
            <a:r>
              <a:rPr lang="en-GB" dirty="0">
                <a:solidFill>
                  <a:schemeClr val="bg1"/>
                </a:solidFill>
              </a:rPr>
              <a:t>Filtering and Formula ~ performance</a:t>
            </a:r>
          </a:p>
          <a:p>
            <a:r>
              <a:rPr lang="en-GB" dirty="0">
                <a:solidFill>
                  <a:schemeClr val="bg1"/>
                </a:solidFill>
              </a:rPr>
              <a:t>Graph ~ data visualization  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79A49-34A0-06EF-306B-0440603F3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069" y="2704213"/>
            <a:ext cx="2837585" cy="202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103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accent3">
                <a:lumMod val="40000"/>
                <a:lumOff val="6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6EE57-0CFD-A89E-7EB3-69E68E4FD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784" y="1180149"/>
            <a:ext cx="8534400" cy="1507067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A8A90-AD83-A4C5-4383-D00DBC186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680" y="2221031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  </a:t>
            </a:r>
            <a:r>
              <a:rPr lang="en-GB" dirty="0">
                <a:solidFill>
                  <a:schemeClr val="bg1"/>
                </a:solidFill>
              </a:rPr>
              <a:t>Employee = Kaggle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  26 – Features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  9 -  Features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  Employee id – numerical values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  Name – text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  Employee type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  Performance level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  Employee rating – numerical values</a:t>
            </a:r>
            <a:br>
              <a:rPr lang="en-GB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D9DEC5-1093-6A71-CCC9-8D43D1CEA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23" t="14573" r="18260" b="20721"/>
          <a:stretch/>
        </p:blipFill>
        <p:spPr>
          <a:xfrm>
            <a:off x="2472611" y="2687216"/>
            <a:ext cx="2317069" cy="234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6056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accent3">
                <a:lumMod val="40000"/>
                <a:lumOff val="6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E425-F7D1-95B0-81AF-229D8A15C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527" y="1361245"/>
            <a:ext cx="8534400" cy="1507067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</a:t>
            </a:r>
            <a:r>
              <a:rPr lang="en-GB" dirty="0">
                <a:solidFill>
                  <a:schemeClr val="bg1"/>
                </a:solidFill>
                <a:latin typeface="Berlin Sans FB Demi" panose="020E0802020502020306" pitchFamily="34" charset="0"/>
                <a:ea typeface="Segoe UI Black" panose="020B0A02040204020203" pitchFamily="34" charset="0"/>
              </a:rPr>
              <a:t>"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Berlin Sans FB Demi" panose="020E0802020502020306" pitchFamily="34" charset="0"/>
                <a:ea typeface="Segoe UI Black" panose="020B0A02040204020203" pitchFamily="34" charset="0"/>
              </a:rPr>
              <a:t>WOW</a:t>
            </a:r>
            <a:r>
              <a:rPr lang="en-GB" dirty="0">
                <a:solidFill>
                  <a:schemeClr val="bg1"/>
                </a:solidFill>
                <a:latin typeface="Berlin Sans FB Demi" panose="020E0802020502020306" pitchFamily="34" charset="0"/>
                <a:ea typeface="Segoe UI Black" panose="020B0A02040204020203" pitchFamily="34" charset="0"/>
              </a:rPr>
              <a:t>" </a:t>
            </a:r>
            <a:r>
              <a:rPr lang="en-GB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 OUR SOLUTION</a:t>
            </a:r>
            <a:endParaRPr lang="en-IN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74F93-A361-70AA-9EEC-CCEB020B8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376" y="1964093"/>
            <a:ext cx="11305624" cy="292981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Performance level =IFS(Z8&gt;=5,”VERY HIGH”,Z8&gt;=4,”HIGH”,Z8&gt;=3,”MED”,TRUE,”LOW”)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4D6D97-13E8-8236-FEC1-507A36A06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892" y="3865838"/>
            <a:ext cx="3408977" cy="183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8521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accent3">
                <a:lumMod val="40000"/>
                <a:lumOff val="6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CBBB-4E33-D962-8523-692CCD809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403" y="1079931"/>
            <a:ext cx="8534400" cy="1507067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MODELLING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0D8B5-B039-F593-89CD-69E1DA5C6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817" y="2253343"/>
            <a:ext cx="8534400" cy="3615267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chemeClr val="bg1"/>
                </a:solidFill>
              </a:rPr>
              <a:t>Data collection</a:t>
            </a:r>
          </a:p>
          <a:p>
            <a:r>
              <a:rPr lang="en-GB" dirty="0">
                <a:solidFill>
                  <a:schemeClr val="bg1"/>
                </a:solidFill>
              </a:rPr>
              <a:t>Downloaded from </a:t>
            </a:r>
            <a:r>
              <a:rPr lang="en-GB" dirty="0" err="1">
                <a:solidFill>
                  <a:schemeClr val="bg1"/>
                </a:solidFill>
              </a:rPr>
              <a:t>Edunet</a:t>
            </a:r>
            <a:r>
              <a:rPr lang="en-GB" dirty="0">
                <a:solidFill>
                  <a:schemeClr val="bg1"/>
                </a:solidFill>
              </a:rPr>
              <a:t> dashboard</a:t>
            </a:r>
          </a:p>
          <a:p>
            <a:r>
              <a:rPr lang="en-GB" dirty="0">
                <a:solidFill>
                  <a:schemeClr val="bg1"/>
                </a:solidFill>
              </a:rPr>
              <a:t>Data cleaning</a:t>
            </a:r>
          </a:p>
          <a:p>
            <a:r>
              <a:rPr lang="en-GB" dirty="0">
                <a:solidFill>
                  <a:schemeClr val="bg1"/>
                </a:solidFill>
              </a:rPr>
              <a:t>Identified the missing values</a:t>
            </a:r>
          </a:p>
          <a:p>
            <a:r>
              <a:rPr lang="en-GB" dirty="0">
                <a:solidFill>
                  <a:schemeClr val="bg1"/>
                </a:solidFill>
              </a:rPr>
              <a:t>Filter out missing values</a:t>
            </a:r>
          </a:p>
          <a:p>
            <a:r>
              <a:rPr lang="en-GB" dirty="0">
                <a:solidFill>
                  <a:schemeClr val="bg1"/>
                </a:solidFill>
              </a:rPr>
              <a:t>Performance level</a:t>
            </a:r>
          </a:p>
          <a:p>
            <a:r>
              <a:rPr lang="en-GB" dirty="0">
                <a:solidFill>
                  <a:schemeClr val="bg1"/>
                </a:solidFill>
              </a:rPr>
              <a:t>Created a formula</a:t>
            </a:r>
          </a:p>
          <a:p>
            <a:r>
              <a:rPr lang="en-GB" dirty="0">
                <a:solidFill>
                  <a:schemeClr val="bg1"/>
                </a:solidFill>
              </a:rPr>
              <a:t>Summary</a:t>
            </a:r>
          </a:p>
          <a:p>
            <a:r>
              <a:rPr lang="en-GB" dirty="0">
                <a:solidFill>
                  <a:schemeClr val="bg1"/>
                </a:solidFill>
              </a:rPr>
              <a:t>Pivot table</a:t>
            </a:r>
          </a:p>
          <a:p>
            <a:r>
              <a:rPr lang="en-GB" dirty="0">
                <a:solidFill>
                  <a:schemeClr val="bg1"/>
                </a:solidFill>
              </a:rPr>
              <a:t>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B386D1-BDD8-DDEE-01E0-05E5EEABC2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69" t="3081" r="8462" b="7585"/>
          <a:stretch/>
        </p:blipFill>
        <p:spPr>
          <a:xfrm>
            <a:off x="7013120" y="3760410"/>
            <a:ext cx="1900242" cy="212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9911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accent3">
                <a:lumMod val="40000"/>
                <a:lumOff val="6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00233-3973-D6B7-23A3-5611D1DC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8ADF74-22F9-3F0F-D4DB-3BF0D718E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5794" y="2192867"/>
            <a:ext cx="7320411" cy="3614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90497839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accent3">
                <a:lumMod val="40000"/>
                <a:lumOff val="6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B654-771F-53DD-1C75-76EF0D81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22" y="891074"/>
            <a:ext cx="8534400" cy="1507067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E737A-B91A-3E42-F3A6-240583AD9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8008" y="1854631"/>
            <a:ext cx="8534400" cy="3615267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Upon reviewing employee performance, it became clear that the PL sector of the organization has a disproportionately high number of top-performing employees.</a:t>
            </a:r>
          </a:p>
          <a:p>
            <a:r>
              <a:rPr lang="en-GB" dirty="0">
                <a:solidFill>
                  <a:schemeClr val="bg1"/>
                </a:solidFill>
              </a:rPr>
              <a:t>To optimize organizational performance, it is recommended that we implement a tailored task assignment strategy, leveraging the unique strengths of employees across various sectors, thereby fostering enhanced motivation, productivity, and overall excellence.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3B32AD-964B-6A40-8260-004784DB10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914" t="11007" r="5597" b="13638"/>
          <a:stretch/>
        </p:blipFill>
        <p:spPr>
          <a:xfrm>
            <a:off x="6454574" y="5171319"/>
            <a:ext cx="2710298" cy="100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7452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180</TotalTime>
  <Words>341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Bahnschrift SemiBold</vt:lpstr>
      <vt:lpstr>Bahnschrift SemiLight</vt:lpstr>
      <vt:lpstr>Berlin Sans FB Demi</vt:lpstr>
      <vt:lpstr>Calibri</vt:lpstr>
      <vt:lpstr>Century Gothic</vt:lpstr>
      <vt:lpstr>Segoe UI Black</vt:lpstr>
      <vt:lpstr>Times New Roman</vt:lpstr>
      <vt:lpstr>Wingdings 3</vt:lpstr>
      <vt:lpstr>Slice</vt:lpstr>
      <vt:lpstr>EMPLOYEE DATA ANALYSIS USING EXCEL</vt:lpstr>
      <vt:lpstr>PROJECT TITLE </vt:lpstr>
      <vt:lpstr>AGENDA</vt:lpstr>
      <vt:lpstr>PROBLEM STATEMENT</vt:lpstr>
      <vt:lpstr>PROJECT OVERVIEW</vt:lpstr>
      <vt:lpstr>WHO ARE THE INTENDED USERS?  </vt:lpstr>
      <vt:lpstr>OUR SOLUTION AND ITS VALUE PROPOSITION</vt:lpstr>
      <vt:lpstr>Dataset Description</vt:lpstr>
      <vt:lpstr>THE "WOW" IN OUR SOLUTION</vt:lpstr>
      <vt:lpstr>MODELLING 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Harry</dc:creator>
  <cp:lastModifiedBy>Harry</cp:lastModifiedBy>
  <cp:revision>2</cp:revision>
  <dcterms:created xsi:type="dcterms:W3CDTF">2024-08-31T10:50:44Z</dcterms:created>
  <dcterms:modified xsi:type="dcterms:W3CDTF">2024-08-31T14:16:24Z</dcterms:modified>
</cp:coreProperties>
</file>